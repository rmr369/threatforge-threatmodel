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84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91455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54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2743200" cy="2743200"/>
          </a:xfrm>
          <a:prstGeom prst="ellipse">
            <a:avLst/>
          </a:prstGeom>
          <a:solidFill>
            <a:srgbClr val="00C896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 Security Architecture Assessment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Cloud Infrastructure - Security &amp; Compliance Review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Landscape &amp; Assessment Scope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en-IN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5603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801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Environment &amp; Components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Domains Reviewed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 &amp; Standards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01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AWS: EKS (12 clusters), RDS (8 databases), S3 (150+ buckets)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Azure: VNets (4), App Services (25), SQL DBs (6)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On-prem: 95 FortiGate firewalls, 40 storage arrays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Network segmentation &amp; firewalling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Identity &amp; access control (IAM)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Data encryption (in-transit &amp; at-rest)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Threat detection &amp; response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Audit logging &amp; compliance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 27001:2013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PCI-DSS v3.2.1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 2 Type II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NIST Cybersecurity Framework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GDPR / Local regulations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solidFill>
            <a:srgbClr val="EBF4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640080" y="39319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Period: July-Sept 2026 | Methodology: NIST CSF + CIS Benchmarks | Teams: Security, Infrastructure, Compliance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Control Coverage &amp; Maturity Status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828800" cy="1097280"/>
          </a:xfrm>
          <a:prstGeom prst="rect">
            <a:avLst/>
          </a:prstGeom>
          <a:solidFill>
            <a:srgbClr val="27AE60">
              <a:alpha val="80000"/>
            </a:srgbClr>
          </a:solidFill>
          <a:ln w="254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Implemented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0" y="1097280"/>
            <a:ext cx="1828800" cy="1097280"/>
          </a:xfrm>
          <a:prstGeom prst="rect">
            <a:avLst/>
          </a:prstGeom>
          <a:solidFill>
            <a:srgbClr val="F39C12">
              <a:alpha val="80000"/>
            </a:srgbClr>
          </a:solidFill>
          <a:ln w="254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560320" y="1234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560320" y="1783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Implemented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1097280"/>
            <a:ext cx="1828800" cy="1097280"/>
          </a:xfrm>
          <a:prstGeom prst="rect">
            <a:avLst/>
          </a:prstGeom>
          <a:solidFill>
            <a:srgbClr val="E74C3C">
              <a:alpha val="80000"/>
            </a:srgbClr>
          </a:solidFill>
          <a:ln w="254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72000" y="1234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572000" y="1783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Implemented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583680" y="1097280"/>
            <a:ext cx="1828800" cy="1097280"/>
          </a:xfrm>
          <a:prstGeom prst="rect">
            <a:avLst/>
          </a:prstGeom>
          <a:solidFill>
            <a:srgbClr val="9B9B9B">
              <a:alpha val="80000"/>
            </a:srgbClr>
          </a:solidFill>
          <a:ln w="25400">
            <a:solidFill>
              <a:srgbClr val="9B9B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583680" y="1234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583680" y="1783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Applicable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468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Components Status: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2834640"/>
            <a:ext cx="8046720" cy="320040"/>
          </a:xfrm>
          <a:prstGeom prst="rect">
            <a:avLst/>
          </a:prstGeom>
          <a:solidFill>
            <a:srgbClr val="27AE60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31520" y="287121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VPC &amp; Network Security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17920" y="2871216"/>
            <a:ext cx="2377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Well-Secured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200400"/>
            <a:ext cx="8046720" cy="320040"/>
          </a:xfrm>
          <a:prstGeom prst="rect">
            <a:avLst/>
          </a:prstGeom>
          <a:solidFill>
            <a:srgbClr val="F39C12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31520" y="323697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(EKS) Security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217920" y="3236976"/>
            <a:ext cx="2377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Requires Hardening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3566160"/>
            <a:ext cx="8046720" cy="320040"/>
          </a:xfrm>
          <a:prstGeom prst="rect">
            <a:avLst/>
          </a:prstGeom>
          <a:solidFill>
            <a:srgbClr val="F39C12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731520" y="360273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Encryption Framework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217920" y="3602736"/>
            <a:ext cx="2377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Partially Implemented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3931920"/>
            <a:ext cx="8046720" cy="320040"/>
          </a:xfrm>
          <a:prstGeom prst="rect">
            <a:avLst/>
          </a:prstGeom>
          <a:solidFill>
            <a:srgbClr val="27AE60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731520" y="396849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Access Management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217920" y="3968496"/>
            <a:ext cx="2377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Secured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4297680"/>
            <a:ext cx="8046720" cy="320040"/>
          </a:xfrm>
          <a:prstGeom prst="rect">
            <a:avLst/>
          </a:prstGeom>
          <a:solidFill>
            <a:srgbClr val="E74C3C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731520" y="433425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Management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217920" y="4334256"/>
            <a:ext cx="2377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Critical Gap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Strengths &amp; Well-Implemented Controls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57200" cy="41148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120700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in Depth - Network Layer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14813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+ ALB + Security Groups + NACLs deployed. Effective microsegmentation across environments.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457200" cy="41148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97280" y="230428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Management Maturity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25786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SSO + Azure AD integrated. MFA enforced. RBAC policies well-defined and audited quarterly.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383280"/>
            <a:ext cx="457200" cy="41148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57200" y="338328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97280" y="340156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Automation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36758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CloudTrail + Azure Auditing + Config Rules. Continuous compliance scanning with 94% coverage.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Gaps &amp; Areas for Improvement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841248"/>
          </a:xfrm>
          <a:prstGeom prst="rect">
            <a:avLst/>
          </a:prstGeom>
          <a:solidFill>
            <a:srgbClr val="E74C3C">
              <a:alpha val="10000"/>
            </a:srgbClr>
          </a:solidFill>
          <a:ln w="254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170432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Pod Security Gaps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117043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481328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network policies in EKS (12 clusters). No Pod Security Standards enforced. RBAC overly permissive for 30% of service accounts.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8229600" cy="841248"/>
          </a:xfrm>
          <a:prstGeom prst="rect">
            <a:avLst/>
          </a:prstGeom>
          <a:solidFill>
            <a:srgbClr val="E74C3C">
              <a:alpha val="10000"/>
            </a:srgbClr>
          </a:solidFill>
          <a:ln w="254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40080" y="2084832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Encryption Inconsistency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0" y="208483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395728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buckets: 85% encrypted (15 unencrypted). RDS: no encryption-at-rest on 2/8 databases. Backup encryption not enforced.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8229600" cy="841248"/>
          </a:xfrm>
          <a:prstGeom prst="rect">
            <a:avLst/>
          </a:prstGeom>
          <a:solidFill>
            <a:srgbClr val="E74C3C">
              <a:alpha val="10000"/>
            </a:srgbClr>
          </a:solidFill>
          <a:ln w="254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40080" y="2999232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Management Architecture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0" y="299923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3310128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Secrets Manager used (AWS), but Azure has no centralized solution. Rotation policies missing. Audit trail incomplete.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8229600" cy="841248"/>
          </a:xfrm>
          <a:prstGeom prst="rect">
            <a:avLst/>
          </a:prstGeom>
          <a:solidFill>
            <a:srgbClr val="F39C12">
              <a:alpha val="10000"/>
            </a:srgbClr>
          </a:solidFill>
          <a:ln w="254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40080" y="3913632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FortiGate Firewall Coverage Gaps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0" y="391363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4224528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73/95 devices updated to latest firmware. IPS/IDS rules outdated on 22 devices. Logging not centralized (syslog coverage: 60%).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Improvements &amp; 6-Month Roadmap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97480" cy="3383280"/>
          </a:xfrm>
          <a:prstGeom prst="rect">
            <a:avLst/>
          </a:prstGeom>
          <a:solidFill>
            <a:srgbClr val="E74C3C">
              <a:alpha val="15000"/>
            </a:srgbClr>
          </a:solidFill>
          <a:ln w="254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(0-45 days)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874520"/>
            <a:ext cx="242316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Deploy K8s Network Policies (all clusters)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Enforce Pod Security Standards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Enable S3 default encryption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Azure Key Vault integration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Firewall firmware updates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Lead: Infrastructure Arch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291840" y="1097280"/>
            <a:ext cx="2697480" cy="3383280"/>
          </a:xfrm>
          <a:prstGeom prst="rect">
            <a:avLst/>
          </a:prstGeom>
          <a:solidFill>
            <a:srgbClr val="F39C12">
              <a:alpha val="15000"/>
            </a:srgbClr>
          </a:solidFill>
          <a:ln w="254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383280" y="118872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(45-120 days)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29000" y="1874520"/>
            <a:ext cx="242316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Centralized secrets rotation automation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RDS encryption-at-rest deployment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Backup encryption enforcement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Firewall syslog centralization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SIEM integration expansion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IPS/IDS rule update cycle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Lead: Security + Ops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126480" y="1097280"/>
            <a:ext cx="2697480" cy="3383280"/>
          </a:xfrm>
          <a:prstGeom prst="rect">
            <a:avLst/>
          </a:prstGeom>
          <a:solidFill>
            <a:srgbClr val="00C896">
              <a:alpha val="15000"/>
            </a:srgbClr>
          </a:solidFill>
          <a:ln w="254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217920" y="118872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(120-180 days)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63640" y="1874520"/>
            <a:ext cx="242316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Zero-trust network access (IAM + Service Mesh)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Automated compliance remediation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Advanced threat detection (ML-based)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Disaster recovery improvements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Security architecture re-assessment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Lead: CTO + Security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Alignment &amp; Standards Coverage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en-IN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92608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/ Framework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Coverage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Gaps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 27001:2013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91% compliant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control gaps (encryption, secrets, K8s)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PCI-DSS v3.2.1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87% compliant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Encryption, firewall coverage, logging centralization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NIST Cybersecurity Framework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84% maturity (3/5 levels)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 &amp; Respond functions (monitoring, incident response)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 2 Type II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On-track for renewal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 control gaps within 90 days for audit readiness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114800"/>
            <a:ext cx="8229600" cy="777240"/>
          </a:xfrm>
          <a:prstGeom prst="rect">
            <a:avLst/>
          </a:prstGeom>
          <a:solidFill>
            <a:srgbClr val="EBF4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640080" y="416052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Summary: Architecture supports compliance at 87% average. Recommended: Address high-priority gaps (Kubernetes, encryption) within 60 days to maintain certifications and audit readiness.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Recommendations &amp; Board Support Needs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Initiatives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1. K8s hardening - 45 days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2. Secrets mgmt overhaul - 90 days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3. Data encryption program - 120 days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4. SIEM expansion - Q4 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Est. budget: $180K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91840" y="10972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Cross-Functional Support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0" y="155448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Infrastructure team coordination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74720" y="192024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Cloud architect resource allocation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74720" y="228600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Vendor management (AWS, Azure tools)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74720" y="265176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Compliance team engagement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74720" y="301752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Monthly architecture reviews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126480" y="10972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Support Needed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09360" y="155448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Capital budget approval ($180K)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09360" y="192024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Executive sponsorship &amp; priority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09360" y="228600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Board quarterly reviews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09360" y="265176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Policy governance updates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09360" y="301752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Risk acceptance sign-off (interim)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114800"/>
            <a:ext cx="8229600" cy="777240"/>
          </a:xfrm>
          <a:prstGeom prst="rect">
            <a:avLst/>
          </a:prstGeom>
          <a:solidFill>
            <a:srgbClr val="EBF4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40080" y="416052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Timeline: Phase 1 (45 days) focuses on critical gaps to maintain compliance posture. Board approval enables Q4 execution of Phases 2-3.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54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&amp; Strategic Questions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828800" y="320040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Rajamohan Reddy, Security Architect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Rajamohanreddy</a:t>
            </a:r>
            <a:r>
              <a:rPr lang="en-US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.com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technical details in appendix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772</Words>
  <Application>Microsoft Office PowerPoint</Application>
  <PresentationFormat>On-screen Show (16:9)</PresentationFormat>
  <Paragraphs>146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Rajamohan Reddy</cp:lastModifiedBy>
  <cp:revision>2</cp:revision>
  <dcterms:created xsi:type="dcterms:W3CDTF">2026-08-06T10:52:05Z</dcterms:created>
  <dcterms:modified xsi:type="dcterms:W3CDTF">2026-08-06T13:56:03Z</dcterms:modified>
</cp:coreProperties>
</file>